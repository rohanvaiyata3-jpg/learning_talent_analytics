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" charset="1" panose="00000500000000000000"/>
      <p:regular r:id="rId13"/>
    </p:embeddedFont>
    <p:embeddedFont>
      <p:font typeface="Montserrat Bold" charset="1" panose="000008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14586" y="4926620"/>
            <a:ext cx="13658828" cy="141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9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15" y="8953644"/>
            <a:ext cx="18269985" cy="27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1599" spc="337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ROHAN VAIYATA · OCTOBER,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015" y="3688812"/>
            <a:ext cx="1826998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400" spc="360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LEARNING &amp; TALENT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11958" y="1006475"/>
            <a:ext cx="5264084" cy="27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1600" spc="33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PORTFOLIO PROJECT</a:t>
            </a:r>
          </a:p>
        </p:txBody>
      </p:sp>
      <p:sp>
        <p:nvSpPr>
          <p:cNvPr name="AutoShape 7" id="7"/>
          <p:cNvSpPr/>
          <p:nvPr/>
        </p:nvSpPr>
        <p:spPr>
          <a:xfrm>
            <a:off x="3953550" y="2470662"/>
            <a:ext cx="103989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953550" y="8003564"/>
            <a:ext cx="103989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552" y="491437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WHY THIS PROJECT ?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3552" y="4705350"/>
            <a:ext cx="471945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OBJECTIVE: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5002" y="5351863"/>
            <a:ext cx="127765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Turn raw training data into a clear,decision-ready view of learning performance.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95002" y="1312128"/>
            <a:ext cx="1279562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Organizations invest heavily in employee training but lack visibility into participation, completion, and course effectiveness. </a:t>
            </a:r>
          </a:p>
        </p:txBody>
      </p:sp>
      <p:sp>
        <p:nvSpPr>
          <p:cNvPr name="AutoShape 7" id="7"/>
          <p:cNvSpPr/>
          <p:nvPr/>
        </p:nvSpPr>
        <p:spPr>
          <a:xfrm>
            <a:off x="223552" y="1088337"/>
            <a:ext cx="5606449" cy="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95002" y="2225520"/>
            <a:ext cx="127765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Raw learning data often contains quality issues - missing dates, invalid scores, negative hours - that distort reporting and decisions.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5002" y="3270626"/>
            <a:ext cx="127765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This project transforms raw learning data into actionable business insights using Python, MySQL, and Tableau.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23552" y="5143500"/>
            <a:ext cx="2359728" cy="54238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375952" y="1350228"/>
            <a:ext cx="19050" cy="72517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75952" y="3344885"/>
            <a:ext cx="0" cy="652853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75952" y="2299779"/>
            <a:ext cx="0" cy="652853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95002" y="5389963"/>
            <a:ext cx="0" cy="362585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674" y="238328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THE DATA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223674" y="816178"/>
            <a:ext cx="2985016" cy="1905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5118360" cy="3066283"/>
            <a:chOff x="0" y="0"/>
            <a:chExt cx="1348045" cy="807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8045" cy="807581"/>
            </a:xfrm>
            <a:custGeom>
              <a:avLst/>
              <a:gdLst/>
              <a:ahLst/>
              <a:cxnLst/>
              <a:rect r="r" b="b" t="t" l="l"/>
              <a:pathLst>
                <a:path h="807581" w="1348045">
                  <a:moveTo>
                    <a:pt x="25714" y="0"/>
                  </a:moveTo>
                  <a:lnTo>
                    <a:pt x="1322331" y="0"/>
                  </a:lnTo>
                  <a:cubicBezTo>
                    <a:pt x="1329151" y="0"/>
                    <a:pt x="1335692" y="2709"/>
                    <a:pt x="1340514" y="7531"/>
                  </a:cubicBezTo>
                  <a:cubicBezTo>
                    <a:pt x="1345336" y="12354"/>
                    <a:pt x="1348045" y="18894"/>
                    <a:pt x="1348045" y="25714"/>
                  </a:cubicBezTo>
                  <a:lnTo>
                    <a:pt x="1348045" y="781867"/>
                  </a:lnTo>
                  <a:cubicBezTo>
                    <a:pt x="1348045" y="796068"/>
                    <a:pt x="1336533" y="807581"/>
                    <a:pt x="1322331" y="807581"/>
                  </a:cubicBezTo>
                  <a:lnTo>
                    <a:pt x="25714" y="807581"/>
                  </a:lnTo>
                  <a:cubicBezTo>
                    <a:pt x="18894" y="807581"/>
                    <a:pt x="12354" y="804872"/>
                    <a:pt x="7531" y="800049"/>
                  </a:cubicBezTo>
                  <a:cubicBezTo>
                    <a:pt x="2709" y="795227"/>
                    <a:pt x="0" y="788687"/>
                    <a:pt x="0" y="781867"/>
                  </a:cubicBezTo>
                  <a:lnTo>
                    <a:pt x="0" y="25714"/>
                  </a:lnTo>
                  <a:cubicBezTo>
                    <a:pt x="0" y="18894"/>
                    <a:pt x="2709" y="12354"/>
                    <a:pt x="7531" y="7531"/>
                  </a:cubicBezTo>
                  <a:cubicBezTo>
                    <a:pt x="12354" y="2709"/>
                    <a:pt x="18894" y="0"/>
                    <a:pt x="25714" y="0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48045" cy="845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4D3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RAW DATASET</a:t>
              </a:r>
            </a:p>
            <a:p>
              <a:pPr algn="ctr">
                <a:lnSpc>
                  <a:spcPts val="1400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1030 Rows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26 Columns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28 rows removed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1028700"/>
            <a:ext cx="5118360" cy="3066283"/>
            <a:chOff x="0" y="0"/>
            <a:chExt cx="1348045" cy="8075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8045" cy="807581"/>
            </a:xfrm>
            <a:custGeom>
              <a:avLst/>
              <a:gdLst/>
              <a:ahLst/>
              <a:cxnLst/>
              <a:rect r="r" b="b" t="t" l="l"/>
              <a:pathLst>
                <a:path h="807581" w="1348045">
                  <a:moveTo>
                    <a:pt x="25714" y="0"/>
                  </a:moveTo>
                  <a:lnTo>
                    <a:pt x="1322331" y="0"/>
                  </a:lnTo>
                  <a:cubicBezTo>
                    <a:pt x="1329151" y="0"/>
                    <a:pt x="1335692" y="2709"/>
                    <a:pt x="1340514" y="7531"/>
                  </a:cubicBezTo>
                  <a:cubicBezTo>
                    <a:pt x="1345336" y="12354"/>
                    <a:pt x="1348045" y="18894"/>
                    <a:pt x="1348045" y="25714"/>
                  </a:cubicBezTo>
                  <a:lnTo>
                    <a:pt x="1348045" y="781867"/>
                  </a:lnTo>
                  <a:cubicBezTo>
                    <a:pt x="1348045" y="796068"/>
                    <a:pt x="1336533" y="807581"/>
                    <a:pt x="1322331" y="807581"/>
                  </a:cubicBezTo>
                  <a:lnTo>
                    <a:pt x="25714" y="807581"/>
                  </a:lnTo>
                  <a:cubicBezTo>
                    <a:pt x="18894" y="807581"/>
                    <a:pt x="12354" y="804872"/>
                    <a:pt x="7531" y="800049"/>
                  </a:cubicBezTo>
                  <a:cubicBezTo>
                    <a:pt x="2709" y="795227"/>
                    <a:pt x="0" y="788687"/>
                    <a:pt x="0" y="781867"/>
                  </a:cubicBezTo>
                  <a:lnTo>
                    <a:pt x="0" y="25714"/>
                  </a:lnTo>
                  <a:cubicBezTo>
                    <a:pt x="0" y="18894"/>
                    <a:pt x="2709" y="12354"/>
                    <a:pt x="7531" y="7531"/>
                  </a:cubicBezTo>
                  <a:cubicBezTo>
                    <a:pt x="12354" y="2709"/>
                    <a:pt x="18894" y="0"/>
                    <a:pt x="25714" y="0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48045" cy="845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4D3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CLEANED DATASET</a:t>
              </a:r>
            </a:p>
            <a:p>
              <a:pPr algn="ctr">
                <a:lnSpc>
                  <a:spcPts val="139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1002 Rows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26 Columns</a:t>
              </a:r>
            </a:p>
            <a:p>
              <a:pPr algn="l">
                <a:lnSpc>
                  <a:spcPts val="3079"/>
                </a:lnSpc>
              </a:pP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Ready for analysis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2724" y="4323583"/>
            <a:ext cx="180710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DATA QUALITY EXCEPTIONS FOUND:  37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674" y="9622640"/>
            <a:ext cx="127765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Source: LMS export · 26 columns · analyzed in Python &amp; MySQL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242724" y="9660740"/>
            <a:ext cx="0" cy="490968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261895" y="4761733"/>
            <a:ext cx="7866414" cy="3810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261895" y="4990333"/>
          <a:ext cx="14000464" cy="4543425"/>
        </p:xfrm>
        <a:graphic>
          <a:graphicData uri="http://schemas.openxmlformats.org/drawingml/2006/table">
            <a:tbl>
              <a:tblPr/>
              <a:tblGrid>
                <a:gridCol w="3648277"/>
                <a:gridCol w="10352188"/>
              </a:tblGrid>
              <a:tr h="7880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u="sng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Label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b="true" sz="1699" u="sng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89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Missing completion 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4D31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Invalid 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4D31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1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9FAF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Invalid ratings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4D31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1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9FAFB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Negative learning hours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4D31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9FAF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b="true" sz="1599">
                          <a:solidFill>
                            <a:srgbClr val="F4D314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4D3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552" y="491437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TOOLS &amp;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2602" y="8141936"/>
            <a:ext cx="127765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Every step is scripted - the pipeline can be re-run on new data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223552" y="1088337"/>
            <a:ext cx="6709490" cy="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2602" y="8180036"/>
            <a:ext cx="0" cy="362585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23552" y="166597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📄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RAW CSV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36424" y="3003605"/>
            <a:ext cx="16764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127914" y="166597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🐍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540787" y="3003605"/>
            <a:ext cx="16764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32277" y="1665977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🗄️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MySQL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445149" y="3003605"/>
            <a:ext cx="16764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→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820077" y="1665977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📊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TABLEAU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223552" y="5143500"/>
            <a:ext cx="15099109" cy="58352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68377" y="5795393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  → Data cleaning, validation, quality logging</a:t>
            </a:r>
          </a:p>
        </p:txBody>
      </p:sp>
      <p:sp>
        <p:nvSpPr>
          <p:cNvPr name="AutoShape 24" id="24"/>
          <p:cNvSpPr/>
          <p:nvPr/>
        </p:nvSpPr>
        <p:spPr>
          <a:xfrm>
            <a:off x="268377" y="5833493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242602" y="6525008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MySQL      → Structured storage + SQL analysis queries   </a:t>
            </a:r>
          </a:p>
        </p:txBody>
      </p:sp>
      <p:sp>
        <p:nvSpPr>
          <p:cNvPr name="AutoShape 26" id="26"/>
          <p:cNvSpPr/>
          <p:nvPr/>
        </p:nvSpPr>
        <p:spPr>
          <a:xfrm>
            <a:off x="242602" y="6563108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261652" y="7174196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Tableau    → 4 interactive dashboards with filters            </a:t>
            </a:r>
          </a:p>
        </p:txBody>
      </p:sp>
      <p:sp>
        <p:nvSpPr>
          <p:cNvPr name="AutoShape 28" id="28"/>
          <p:cNvSpPr/>
          <p:nvPr/>
        </p:nvSpPr>
        <p:spPr>
          <a:xfrm>
            <a:off x="261652" y="7212296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552" y="491437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KEY FINDINGS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2602" y="8141936"/>
            <a:ext cx="1615738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Average score of 81 and rating of 4.0 show courses well-received when learners complete them 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223552" y="1069287"/>
            <a:ext cx="6709490" cy="1905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2602" y="8180036"/>
            <a:ext cx="0" cy="334645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23552" y="1665977"/>
            <a:ext cx="2857500" cy="2857500"/>
            <a:chOff x="0" y="0"/>
            <a:chExt cx="752593" cy="7525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2593" cy="752593"/>
            </a:xfrm>
            <a:custGeom>
              <a:avLst/>
              <a:gdLst/>
              <a:ahLst/>
              <a:cxnLst/>
              <a:rect r="r" b="b" t="t" l="l"/>
              <a:pathLst>
                <a:path h="752593" w="752593">
                  <a:moveTo>
                    <a:pt x="67733" y="0"/>
                  </a:moveTo>
                  <a:lnTo>
                    <a:pt x="684859" y="0"/>
                  </a:lnTo>
                  <a:cubicBezTo>
                    <a:pt x="702823" y="0"/>
                    <a:pt x="720051" y="7136"/>
                    <a:pt x="732754" y="19839"/>
                  </a:cubicBezTo>
                  <a:cubicBezTo>
                    <a:pt x="745456" y="32541"/>
                    <a:pt x="752593" y="49769"/>
                    <a:pt x="752593" y="67733"/>
                  </a:cubicBezTo>
                  <a:lnTo>
                    <a:pt x="752593" y="684859"/>
                  </a:lnTo>
                  <a:cubicBezTo>
                    <a:pt x="752593" y="702823"/>
                    <a:pt x="745456" y="720051"/>
                    <a:pt x="732754" y="732754"/>
                  </a:cubicBezTo>
                  <a:cubicBezTo>
                    <a:pt x="720051" y="745456"/>
                    <a:pt x="702823" y="752593"/>
                    <a:pt x="684859" y="752593"/>
                  </a:cubicBezTo>
                  <a:lnTo>
                    <a:pt x="67733" y="752593"/>
                  </a:lnTo>
                  <a:cubicBezTo>
                    <a:pt x="49769" y="752593"/>
                    <a:pt x="32541" y="745456"/>
                    <a:pt x="19839" y="732754"/>
                  </a:cubicBezTo>
                  <a:cubicBezTo>
                    <a:pt x="7136" y="720051"/>
                    <a:pt x="0" y="702823"/>
                    <a:pt x="0" y="684859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52593" cy="819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1,002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ENROLLMENTS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6668" y="1665977"/>
            <a:ext cx="2857500" cy="2857500"/>
            <a:chOff x="0" y="0"/>
            <a:chExt cx="752593" cy="7525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2593" cy="752593"/>
            </a:xfrm>
            <a:custGeom>
              <a:avLst/>
              <a:gdLst/>
              <a:ahLst/>
              <a:cxnLst/>
              <a:rect r="r" b="b" t="t" l="l"/>
              <a:pathLst>
                <a:path h="752593" w="752593">
                  <a:moveTo>
                    <a:pt x="67733" y="0"/>
                  </a:moveTo>
                  <a:lnTo>
                    <a:pt x="684859" y="0"/>
                  </a:lnTo>
                  <a:cubicBezTo>
                    <a:pt x="702823" y="0"/>
                    <a:pt x="720051" y="7136"/>
                    <a:pt x="732754" y="19839"/>
                  </a:cubicBezTo>
                  <a:cubicBezTo>
                    <a:pt x="745456" y="32541"/>
                    <a:pt x="752593" y="49769"/>
                    <a:pt x="752593" y="67733"/>
                  </a:cubicBezTo>
                  <a:lnTo>
                    <a:pt x="752593" y="684859"/>
                  </a:lnTo>
                  <a:cubicBezTo>
                    <a:pt x="752593" y="702823"/>
                    <a:pt x="745456" y="720051"/>
                    <a:pt x="732754" y="732754"/>
                  </a:cubicBezTo>
                  <a:cubicBezTo>
                    <a:pt x="720051" y="745456"/>
                    <a:pt x="702823" y="752593"/>
                    <a:pt x="684859" y="752593"/>
                  </a:cubicBezTo>
                  <a:lnTo>
                    <a:pt x="67733" y="752593"/>
                  </a:lnTo>
                  <a:cubicBezTo>
                    <a:pt x="49769" y="752593"/>
                    <a:pt x="32541" y="745456"/>
                    <a:pt x="19839" y="732754"/>
                  </a:cubicBezTo>
                  <a:cubicBezTo>
                    <a:pt x="7136" y="720051"/>
                    <a:pt x="0" y="702823"/>
                    <a:pt x="0" y="684859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52593" cy="819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67.2%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COMPLETION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48968" y="1687168"/>
            <a:ext cx="2857500" cy="2857500"/>
            <a:chOff x="0" y="0"/>
            <a:chExt cx="752593" cy="7525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2593" cy="752593"/>
            </a:xfrm>
            <a:custGeom>
              <a:avLst/>
              <a:gdLst/>
              <a:ahLst/>
              <a:cxnLst/>
              <a:rect r="r" b="b" t="t" l="l"/>
              <a:pathLst>
                <a:path h="752593" w="752593">
                  <a:moveTo>
                    <a:pt x="67733" y="0"/>
                  </a:moveTo>
                  <a:lnTo>
                    <a:pt x="684859" y="0"/>
                  </a:lnTo>
                  <a:cubicBezTo>
                    <a:pt x="702823" y="0"/>
                    <a:pt x="720051" y="7136"/>
                    <a:pt x="732754" y="19839"/>
                  </a:cubicBezTo>
                  <a:cubicBezTo>
                    <a:pt x="745456" y="32541"/>
                    <a:pt x="752593" y="49769"/>
                    <a:pt x="752593" y="67733"/>
                  </a:cubicBezTo>
                  <a:lnTo>
                    <a:pt x="752593" y="684859"/>
                  </a:lnTo>
                  <a:cubicBezTo>
                    <a:pt x="752593" y="702823"/>
                    <a:pt x="745456" y="720051"/>
                    <a:pt x="732754" y="732754"/>
                  </a:cubicBezTo>
                  <a:cubicBezTo>
                    <a:pt x="720051" y="745456"/>
                    <a:pt x="702823" y="752593"/>
                    <a:pt x="684859" y="752593"/>
                  </a:cubicBezTo>
                  <a:lnTo>
                    <a:pt x="67733" y="752593"/>
                  </a:lnTo>
                  <a:cubicBezTo>
                    <a:pt x="49769" y="752593"/>
                    <a:pt x="32541" y="745456"/>
                    <a:pt x="19839" y="732754"/>
                  </a:cubicBezTo>
                  <a:cubicBezTo>
                    <a:pt x="7136" y="720051"/>
                    <a:pt x="0" y="702823"/>
                    <a:pt x="0" y="684859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52593" cy="819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80.95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AVG SCORE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1268" y="1687168"/>
            <a:ext cx="2857500" cy="2857500"/>
            <a:chOff x="0" y="0"/>
            <a:chExt cx="752593" cy="7525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2593" cy="752593"/>
            </a:xfrm>
            <a:custGeom>
              <a:avLst/>
              <a:gdLst/>
              <a:ahLst/>
              <a:cxnLst/>
              <a:rect r="r" b="b" t="t" l="l"/>
              <a:pathLst>
                <a:path h="752593" w="752593">
                  <a:moveTo>
                    <a:pt x="67733" y="0"/>
                  </a:moveTo>
                  <a:lnTo>
                    <a:pt x="684859" y="0"/>
                  </a:lnTo>
                  <a:cubicBezTo>
                    <a:pt x="702823" y="0"/>
                    <a:pt x="720051" y="7136"/>
                    <a:pt x="732754" y="19839"/>
                  </a:cubicBezTo>
                  <a:cubicBezTo>
                    <a:pt x="745456" y="32541"/>
                    <a:pt x="752593" y="49769"/>
                    <a:pt x="752593" y="67733"/>
                  </a:cubicBezTo>
                  <a:lnTo>
                    <a:pt x="752593" y="684859"/>
                  </a:lnTo>
                  <a:cubicBezTo>
                    <a:pt x="752593" y="702823"/>
                    <a:pt x="745456" y="720051"/>
                    <a:pt x="732754" y="732754"/>
                  </a:cubicBezTo>
                  <a:cubicBezTo>
                    <a:pt x="720051" y="745456"/>
                    <a:pt x="702823" y="752593"/>
                    <a:pt x="684859" y="752593"/>
                  </a:cubicBezTo>
                  <a:lnTo>
                    <a:pt x="67733" y="752593"/>
                  </a:lnTo>
                  <a:cubicBezTo>
                    <a:pt x="49769" y="752593"/>
                    <a:pt x="32541" y="745456"/>
                    <a:pt x="19839" y="732754"/>
                  </a:cubicBezTo>
                  <a:cubicBezTo>
                    <a:pt x="7136" y="720051"/>
                    <a:pt x="0" y="702823"/>
                    <a:pt x="0" y="684859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52593" cy="819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4.006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AVG RATING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223552" y="5143500"/>
            <a:ext cx="15768441" cy="58352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68377" y="5795393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Completion varies by department and course category </a:t>
            </a:r>
          </a:p>
        </p:txBody>
      </p:sp>
      <p:sp>
        <p:nvSpPr>
          <p:cNvPr name="AutoShape 21" id="21"/>
          <p:cNvSpPr/>
          <p:nvPr/>
        </p:nvSpPr>
        <p:spPr>
          <a:xfrm>
            <a:off x="268377" y="5833493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242602" y="6525008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Roughly 1 in 3 enrollments is not completed </a:t>
            </a:r>
          </a:p>
        </p:txBody>
      </p:sp>
      <p:sp>
        <p:nvSpPr>
          <p:cNvPr name="AutoShape 23" id="23"/>
          <p:cNvSpPr/>
          <p:nvPr/>
        </p:nvSpPr>
        <p:spPr>
          <a:xfrm>
            <a:off x="242602" y="6563108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261652" y="7174196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100 overdue records flag where follow-up is needed 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61652" y="7212296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2873568" y="1687168"/>
            <a:ext cx="2857500" cy="2857500"/>
            <a:chOff x="0" y="0"/>
            <a:chExt cx="752593" cy="7525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2593" cy="752593"/>
            </a:xfrm>
            <a:custGeom>
              <a:avLst/>
              <a:gdLst/>
              <a:ahLst/>
              <a:cxnLst/>
              <a:rect r="r" b="b" t="t" l="l"/>
              <a:pathLst>
                <a:path h="752593" w="752593">
                  <a:moveTo>
                    <a:pt x="67733" y="0"/>
                  </a:moveTo>
                  <a:lnTo>
                    <a:pt x="684859" y="0"/>
                  </a:lnTo>
                  <a:cubicBezTo>
                    <a:pt x="702823" y="0"/>
                    <a:pt x="720051" y="7136"/>
                    <a:pt x="732754" y="19839"/>
                  </a:cubicBezTo>
                  <a:cubicBezTo>
                    <a:pt x="745456" y="32541"/>
                    <a:pt x="752593" y="49769"/>
                    <a:pt x="752593" y="67733"/>
                  </a:cubicBezTo>
                  <a:lnTo>
                    <a:pt x="752593" y="684859"/>
                  </a:lnTo>
                  <a:cubicBezTo>
                    <a:pt x="752593" y="702823"/>
                    <a:pt x="745456" y="720051"/>
                    <a:pt x="732754" y="732754"/>
                  </a:cubicBezTo>
                  <a:cubicBezTo>
                    <a:pt x="720051" y="745456"/>
                    <a:pt x="702823" y="752593"/>
                    <a:pt x="684859" y="752593"/>
                  </a:cubicBezTo>
                  <a:lnTo>
                    <a:pt x="67733" y="752593"/>
                  </a:lnTo>
                  <a:cubicBezTo>
                    <a:pt x="49769" y="752593"/>
                    <a:pt x="32541" y="745456"/>
                    <a:pt x="19839" y="732754"/>
                  </a:cubicBezTo>
                  <a:cubicBezTo>
                    <a:pt x="7136" y="720051"/>
                    <a:pt x="0" y="702823"/>
                    <a:pt x="0" y="684859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52593" cy="819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100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</a:t>
              </a: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VERDUE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552" y="491437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THE DASHBOARDS</a:t>
            </a:r>
          </a:p>
        </p:txBody>
      </p:sp>
      <p:sp>
        <p:nvSpPr>
          <p:cNvPr name="AutoShape 4" id="4"/>
          <p:cNvSpPr/>
          <p:nvPr/>
        </p:nvSpPr>
        <p:spPr>
          <a:xfrm>
            <a:off x="223552" y="1088337"/>
            <a:ext cx="5020398" cy="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23552" y="1428518"/>
            <a:ext cx="4179896" cy="3252976"/>
            <a:chOff x="0" y="0"/>
            <a:chExt cx="104440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4404" cy="812800"/>
            </a:xfrm>
            <a:custGeom>
              <a:avLst/>
              <a:gdLst/>
              <a:ahLst/>
              <a:cxnLst/>
              <a:rect r="r" b="b" t="t" l="l"/>
              <a:pathLst>
                <a:path h="812800" w="1044404">
                  <a:moveTo>
                    <a:pt x="0" y="0"/>
                  </a:moveTo>
                  <a:lnTo>
                    <a:pt x="1044404" y="0"/>
                  </a:lnTo>
                  <a:lnTo>
                    <a:pt x="104440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112" r="0" b="-11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41017" y="1428518"/>
            <a:ext cx="4118059" cy="3252976"/>
            <a:chOff x="0" y="0"/>
            <a:chExt cx="102895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8953" cy="812800"/>
            </a:xfrm>
            <a:custGeom>
              <a:avLst/>
              <a:gdLst/>
              <a:ahLst/>
              <a:cxnLst/>
              <a:rect r="r" b="b" t="t" l="l"/>
              <a:pathLst>
                <a:path h="812800" w="1028953">
                  <a:moveTo>
                    <a:pt x="0" y="0"/>
                  </a:moveTo>
                  <a:lnTo>
                    <a:pt x="1028953" y="0"/>
                  </a:lnTo>
                  <a:lnTo>
                    <a:pt x="102895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313" t="0" r="-31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3552" y="5663839"/>
            <a:ext cx="4179896" cy="3252976"/>
            <a:chOff x="0" y="0"/>
            <a:chExt cx="1079247" cy="8399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247" cy="839916"/>
            </a:xfrm>
            <a:custGeom>
              <a:avLst/>
              <a:gdLst/>
              <a:ahLst/>
              <a:cxnLst/>
              <a:rect r="r" b="b" t="t" l="l"/>
              <a:pathLst>
                <a:path h="839916" w="1079247">
                  <a:moveTo>
                    <a:pt x="0" y="0"/>
                  </a:moveTo>
                  <a:lnTo>
                    <a:pt x="1079247" y="0"/>
                  </a:lnTo>
                  <a:lnTo>
                    <a:pt x="1079247" y="839916"/>
                  </a:lnTo>
                  <a:lnTo>
                    <a:pt x="0" y="839916"/>
                  </a:lnTo>
                  <a:close/>
                </a:path>
              </a:pathLst>
            </a:custGeom>
            <a:blipFill>
              <a:blip r:embed="rId5"/>
              <a:stretch>
                <a:fillRect l="0" t="-112" r="0" b="-11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41017" y="5663839"/>
            <a:ext cx="4118059" cy="3252976"/>
            <a:chOff x="0" y="0"/>
            <a:chExt cx="102895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8953" cy="812800"/>
            </a:xfrm>
            <a:custGeom>
              <a:avLst/>
              <a:gdLst/>
              <a:ahLst/>
              <a:cxnLst/>
              <a:rect r="r" b="b" t="t" l="l"/>
              <a:pathLst>
                <a:path h="812800" w="1028953">
                  <a:moveTo>
                    <a:pt x="0" y="0"/>
                  </a:moveTo>
                  <a:lnTo>
                    <a:pt x="1028953" y="0"/>
                  </a:lnTo>
                  <a:lnTo>
                    <a:pt x="102895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313" t="0" r="-31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20626" y="4967244"/>
            <a:ext cx="218574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Hi</a:t>
            </a: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gh-level KPIs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44674" y="4967244"/>
            <a:ext cx="311074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Enga</a:t>
            </a: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gement patterns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240665"/>
            <a:ext cx="254472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Scor</a:t>
            </a: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es &amp; feedback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03911" y="9202565"/>
            <a:ext cx="29673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37 log</a:t>
            </a:r>
            <a:r>
              <a:rPr lang="en-US" sz="21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ged exceptions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552" y="491437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223552" y="1069287"/>
            <a:ext cx="5606449" cy="1905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8377" y="1491585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01  Target the 100 overdue records with automated reminders</a:t>
            </a:r>
          </a:p>
        </p:txBody>
      </p:sp>
      <p:sp>
        <p:nvSpPr>
          <p:cNvPr name="AutoShape 6" id="6"/>
          <p:cNvSpPr/>
          <p:nvPr/>
        </p:nvSpPr>
        <p:spPr>
          <a:xfrm>
            <a:off x="268377" y="1529685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42602" y="2221200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02  Investigate low-completion departments surfaced in Dash 2  </a:t>
            </a:r>
          </a:p>
        </p:txBody>
      </p:sp>
      <p:sp>
        <p:nvSpPr>
          <p:cNvPr name="AutoShape 8" id="8"/>
          <p:cNvSpPr/>
          <p:nvPr/>
        </p:nvSpPr>
        <p:spPr>
          <a:xfrm>
            <a:off x="242602" y="2259300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61652" y="2870388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03  Fix the data pipeline - 25 missing completion dates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61652" y="2908488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2602" y="3523803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04  Use high-rated courses as templates for underperformers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42602" y="3561903"/>
            <a:ext cx="0" cy="35814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268442" y="4367718"/>
            <a:ext cx="18071050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9"/>
              </a:lnSpc>
            </a:pPr>
            <a:r>
              <a:rPr lang="en-US" sz="3999">
                <a:solidFill>
                  <a:srgbClr val="F4D314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268442" y="4964618"/>
            <a:ext cx="3269548" cy="0"/>
          </a:xfrm>
          <a:prstGeom prst="line">
            <a:avLst/>
          </a:prstGeom>
          <a:ln cap="flat" w="38100">
            <a:solidFill>
              <a:srgbClr val="F4D3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313267" y="5240843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 Connect live LMS data for automated refresh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7492" y="5970458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 Add predictive model for completion likelihood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6542" y="6619646"/>
            <a:ext cx="1505428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→  Publish dashboards to Tableau Public / internal server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DAHXma6jF_Y</dc:identifier>
  <dcterms:modified xsi:type="dcterms:W3CDTF">2011-08-01T06:04:30Z</dcterms:modified>
  <cp:revision>1</cp:revision>
  <dc:title>Black and White Simple Professional Data Analysis Presentation</dc:title>
</cp:coreProperties>
</file>